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2801" r:id="rId2"/>
    <p:sldId id="24088" r:id="rId3"/>
    <p:sldId id="24103" r:id="rId4"/>
    <p:sldId id="24104" r:id="rId5"/>
    <p:sldId id="2798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7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421917C-E4D7-40FB-985B-4B66A7AE4DB0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22FD61F-8C12-4D27-8A97-2C1A1C6EBC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58828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86" name="Google Shape;8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98534611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86" name="Google Shape;8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414916485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86" name="Google Shape;8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67742327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86" name="Google Shape;8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67742327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BA91A5-8E1B-40C2-9E59-822D880DA86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2A6EADB-990A-4E92-991E-1B70FF9658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C9CAF6-0EB9-4C9A-A777-B0C5516234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1EDA04-EE2A-4656-B49A-64FDD2E4F3F1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843B90-9214-494B-BAC4-27D98F1F27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F6EAA3-81F9-4740-8919-A0230467C1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501044-14AD-4C0D-8988-CC730BD97B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69943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81A227-003D-47B1-A79B-0D1A7F8ECA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18B48F-57B4-4012-B8AB-D142644179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930337-5DD9-4BBC-A549-5628AC99CB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1EDA04-EE2A-4656-B49A-64FDD2E4F3F1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50106E-FF43-42C9-A160-84A0EFAE2C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CA41CC-6D83-4E80-A656-485CA3EADC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501044-14AD-4C0D-8988-CC730BD97B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08452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C8535A-7C92-400F-BF75-786E5D369F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F117214-232D-4D1A-842F-8966A8ADD0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8DAD4A-486D-4D77-8029-B09A4425A9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1EDA04-EE2A-4656-B49A-64FDD2E4F3F1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312948-85E9-4872-AB74-41431137DF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0AAD84-3BCA-4473-8B5A-A65D12CF59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501044-14AD-4C0D-8988-CC730BD97B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77733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7AD255-AA36-4103-9E6A-044EE274DB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E781ED-0D59-4AE9-BD98-15BCA3EFA6F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852E563-BAEF-4AA3-8558-2F146BE71D0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644C019-33D7-42C0-8783-FA0BB6B8FA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1EDA04-EE2A-4656-B49A-64FDD2E4F3F1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A05A634-32AF-4D31-8C01-25B94D68B4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846AD59-CB3A-4A9E-97C8-6DE89B411D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501044-14AD-4C0D-8988-CC730BD97B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09074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5C1D1D-0356-46DB-9D44-D17E0C07BF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F7F4789-D617-4846-893F-A07AE5A865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DA7E2AD-F5C1-46CF-BF67-6190604593A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49874D3-4E6F-4971-B3CF-D947D658F08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D943B07-4718-497B-9655-A748FB149DC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95F9498-7A6F-408E-8CED-9F64C0FA0D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1EDA04-EE2A-4656-B49A-64FDD2E4F3F1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A90E8AA-27B5-4CC1-B958-0A76B89AE7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D7C580C-6245-4CBA-BF6F-35D88060D2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501044-14AD-4C0D-8988-CC730BD97B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54183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1C832B-3BA8-417E-B210-F8C4A3A962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5FE71D8-045D-4725-B826-6207BE015E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1EDA04-EE2A-4656-B49A-64FDD2E4F3F1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D0373F0-CFD6-4D3B-A3C8-CCC0E002BA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AC3C5A6-FE84-470A-B9FB-5C826DE0E0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501044-14AD-4C0D-8988-CC730BD97B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50770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1381DFA-EF21-4CDD-9AA3-B5280AA0C6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1EDA04-EE2A-4656-B49A-64FDD2E4F3F1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5664F1D-7F70-4407-8595-D3F7ABD4D1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2D43F82-F61C-452A-BD3F-7319ADEF42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501044-14AD-4C0D-8988-CC730BD97B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03406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B0A328-C219-4984-A355-2C2170C4BB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1D2BA6-D82B-49AB-B182-9A18060160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C02C11E-FB2C-4890-AD04-1AB1CF64A00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7F14E2C-2F6C-4D99-BB15-BD58F39E5B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1EDA04-EE2A-4656-B49A-64FDD2E4F3F1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D02B013-CFCA-454B-BD9D-FD6F6BD9B1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0B9523-DA59-409B-82C4-8C50C1BA8F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501044-14AD-4C0D-8988-CC730BD97B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67489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E524AE-6E60-4EE2-865A-FEB55FB3C6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B86D9FB-DF47-4DFA-A036-C5D3E30433E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995CB11-FA6A-4B46-9F97-A189943886A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082E4F2-94BE-40C6-BFA7-5A861ADB42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1EDA04-EE2A-4656-B49A-64FDD2E4F3F1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A176D4C-5837-4426-B5F9-D8169DAB3E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D818E8E-8DC9-4480-9565-ACEACD9707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501044-14AD-4C0D-8988-CC730BD97B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85191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CEE082-E70C-4695-93E4-58C3635970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FD71A7-9728-4549-A620-5A4C1B3A004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0A7012-8E41-4FAD-A526-A594C62C58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1EDA04-EE2A-4656-B49A-64FDD2E4F3F1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232F9D-417D-42D1-86E2-29DF4739D6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A01EC3-E8A5-4B27-BD81-710402CB33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501044-14AD-4C0D-8988-CC730BD97B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76721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D0D8D2A-8966-4760-BF17-A0655A03459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4E2DF6A-62E7-409C-A794-502DD50C220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124832-F3ED-4DD7-8598-1551E93A98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1EDA04-EE2A-4656-B49A-64FDD2E4F3F1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93D620-A91E-4117-AB78-45EEC9BB31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937AFF-63C6-425F-8253-5DFF56C1FC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501044-14AD-4C0D-8988-CC730BD97B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10417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F75CE69-387F-4DF5-8591-BF91AF688C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66F23D-3C07-48AA-8168-DAFCED4924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2F73E4-6E86-4852-9A83-BC4848C189F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1EDA04-EE2A-4656-B49A-64FDD2E4F3F1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F20E1C-ACD5-4C1C-B60D-C4D2B5F980C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4D3509-B8EE-4205-A78A-E886177AC77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501044-14AD-4C0D-8988-CC730BD97B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89826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12618" y="360218"/>
            <a:ext cx="11263746" cy="615141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65417" y="2531926"/>
            <a:ext cx="3920596" cy="1808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28734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01781" y="297871"/>
            <a:ext cx="11263746" cy="615141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object 16">
            <a:extLst>
              <a:ext uri="{FF2B5EF4-FFF2-40B4-BE49-F238E27FC236}">
                <a16:creationId xmlns:a16="http://schemas.microsoft.com/office/drawing/2014/main" id="{2D67A2AB-77E0-4FF1-93A3-9AA32A481D72}"/>
              </a:ext>
            </a:extLst>
          </p:cNvPr>
          <p:cNvSpPr txBox="1"/>
          <p:nvPr/>
        </p:nvSpPr>
        <p:spPr>
          <a:xfrm>
            <a:off x="3954812" y="2452807"/>
            <a:ext cx="5469868" cy="2248051"/>
          </a:xfrm>
          <a:prstGeom prst="rect">
            <a:avLst/>
          </a:prstGeom>
        </p:spPr>
        <p:txBody>
          <a:bodyPr vert="horz" wrap="square" lIns="0" tIns="14351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130"/>
              </a:spcBef>
              <a:buFont typeface="Arial" panose="020B0604020202020204" pitchFamily="34" charset="0"/>
              <a:buChar char="•"/>
            </a:pPr>
            <a:r>
              <a:rPr lang="en-US" sz="2000" spc="-10" dirty="0">
                <a:solidFill>
                  <a:srgbClr val="4C4C4E"/>
                </a:solidFill>
                <a:latin typeface="Lato" panose="020F0502020204030203"/>
                <a:cs typeface="Times New Roman" panose="02020603050405020304" pitchFamily="18" charset="0"/>
              </a:rPr>
              <a:t>Commercial report by </a:t>
            </a:r>
            <a:r>
              <a:rPr lang="en-US" sz="2000" spc="-10" dirty="0" err="1">
                <a:solidFill>
                  <a:srgbClr val="4C4C4E"/>
                </a:solidFill>
                <a:latin typeface="Lato" panose="020F0502020204030203"/>
                <a:cs typeface="Times New Roman" panose="02020603050405020304" pitchFamily="18" charset="0"/>
              </a:rPr>
              <a:t>Ketevan</a:t>
            </a:r>
            <a:r>
              <a:rPr lang="en-US" sz="2000" spc="-10" dirty="0">
                <a:solidFill>
                  <a:srgbClr val="4C4C4E"/>
                </a:solidFill>
                <a:latin typeface="Lato" panose="020F0502020204030203"/>
                <a:cs typeface="Times New Roman" panose="02020603050405020304" pitchFamily="18" charset="0"/>
              </a:rPr>
              <a:t> </a:t>
            </a:r>
            <a:r>
              <a:rPr lang="en-US" sz="2000" spc="-10" dirty="0" err="1">
                <a:solidFill>
                  <a:srgbClr val="4C4C4E"/>
                </a:solidFill>
                <a:latin typeface="Lato" panose="020F0502020204030203"/>
                <a:cs typeface="Times New Roman" panose="02020603050405020304" pitchFamily="18" charset="0"/>
              </a:rPr>
              <a:t>Gabitashvili</a:t>
            </a:r>
            <a:endParaRPr lang="en-US" sz="2000" spc="-10" dirty="0">
              <a:solidFill>
                <a:srgbClr val="4C4C4E"/>
              </a:solidFill>
              <a:latin typeface="Lato" panose="020F0502020204030203"/>
              <a:cs typeface="Times New Roman" panose="02020603050405020304" pitchFamily="18" charset="0"/>
            </a:endParaRPr>
          </a:p>
          <a:p>
            <a:pPr marL="355600" indent="-342900">
              <a:lnSpc>
                <a:spcPct val="100000"/>
              </a:lnSpc>
              <a:spcBef>
                <a:spcPts val="1130"/>
              </a:spcBef>
              <a:buFont typeface="Arial" panose="020B0604020202020204" pitchFamily="34" charset="0"/>
              <a:buChar char="•"/>
            </a:pPr>
            <a:r>
              <a:rPr lang="en-US" sz="2000" spc="-10" dirty="0">
                <a:solidFill>
                  <a:srgbClr val="4C4C4E"/>
                </a:solidFill>
                <a:latin typeface="Lato" panose="020F0502020204030203"/>
                <a:cs typeface="Times New Roman" panose="02020603050405020304" pitchFamily="18" charset="0"/>
              </a:rPr>
              <a:t>Marketing report by Nino </a:t>
            </a:r>
            <a:r>
              <a:rPr lang="en-US" sz="2000" spc="-10" dirty="0" err="1">
                <a:solidFill>
                  <a:srgbClr val="4C4C4E"/>
                </a:solidFill>
                <a:latin typeface="Lato" panose="020F0502020204030203"/>
                <a:cs typeface="Times New Roman" panose="02020603050405020304" pitchFamily="18" charset="0"/>
              </a:rPr>
              <a:t>Kenkebashvili</a:t>
            </a:r>
            <a:endParaRPr lang="en-US" sz="2000" spc="-10" dirty="0">
              <a:solidFill>
                <a:srgbClr val="4C4C4E"/>
              </a:solidFill>
              <a:latin typeface="Lato" panose="020F0502020204030203"/>
              <a:cs typeface="Times New Roman" panose="02020603050405020304" pitchFamily="18" charset="0"/>
            </a:endParaRPr>
          </a:p>
          <a:p>
            <a:pPr marL="355600" indent="-342900">
              <a:spcBef>
                <a:spcPts val="1130"/>
              </a:spcBef>
              <a:buFont typeface="Arial" panose="020B0604020202020204" pitchFamily="34" charset="0"/>
              <a:buChar char="•"/>
            </a:pPr>
            <a:r>
              <a:rPr lang="en-US" sz="2000" spc="-10" dirty="0">
                <a:solidFill>
                  <a:srgbClr val="4C4C4E"/>
                </a:solidFill>
                <a:latin typeface="Lato" panose="020F0502020204030203"/>
                <a:cs typeface="Times New Roman" panose="02020603050405020304" pitchFamily="18" charset="0"/>
              </a:rPr>
              <a:t>E-commerce report by Mariam </a:t>
            </a:r>
            <a:r>
              <a:rPr lang="en-US" sz="2000" spc="-10" dirty="0" err="1">
                <a:solidFill>
                  <a:srgbClr val="4C4C4E"/>
                </a:solidFill>
                <a:latin typeface="Lato" panose="020F0502020204030203"/>
                <a:cs typeface="Times New Roman" panose="02020603050405020304" pitchFamily="18" charset="0"/>
              </a:rPr>
              <a:t>Adamia</a:t>
            </a:r>
            <a:endParaRPr lang="en-US" sz="2000" spc="-10" dirty="0">
              <a:solidFill>
                <a:srgbClr val="4C4C4E"/>
              </a:solidFill>
              <a:latin typeface="Lato" panose="020F0502020204030203"/>
              <a:cs typeface="Times New Roman" panose="02020603050405020304" pitchFamily="18" charset="0"/>
            </a:endParaRPr>
          </a:p>
          <a:p>
            <a:pPr marL="355600" indent="-342900">
              <a:spcBef>
                <a:spcPts val="1130"/>
              </a:spcBef>
              <a:buFont typeface="Arial" panose="020B0604020202020204" pitchFamily="34" charset="0"/>
              <a:buChar char="•"/>
            </a:pPr>
            <a:r>
              <a:rPr lang="en-US" sz="2000" spc="-10" dirty="0">
                <a:solidFill>
                  <a:srgbClr val="4C4C4E"/>
                </a:solidFill>
                <a:latin typeface="Lato" panose="020F0502020204030203"/>
                <a:cs typeface="Times New Roman" panose="02020603050405020304" pitchFamily="18" charset="0"/>
              </a:rPr>
              <a:t>HR report by </a:t>
            </a:r>
            <a:r>
              <a:rPr lang="en-US" sz="2000" spc="-10" dirty="0" err="1">
                <a:solidFill>
                  <a:srgbClr val="4C4C4E"/>
                </a:solidFill>
                <a:latin typeface="Lato" panose="020F0502020204030203"/>
                <a:cs typeface="Times New Roman" panose="02020603050405020304" pitchFamily="18" charset="0"/>
              </a:rPr>
              <a:t>Natia</a:t>
            </a:r>
            <a:r>
              <a:rPr lang="en-US" sz="2000" spc="-10" dirty="0">
                <a:solidFill>
                  <a:srgbClr val="4C4C4E"/>
                </a:solidFill>
                <a:latin typeface="Lato" panose="020F0502020204030203"/>
                <a:cs typeface="Times New Roman" panose="02020603050405020304" pitchFamily="18" charset="0"/>
              </a:rPr>
              <a:t> </a:t>
            </a:r>
            <a:r>
              <a:rPr lang="en-US" sz="2000" spc="-10" dirty="0" err="1">
                <a:solidFill>
                  <a:srgbClr val="4C4C4E"/>
                </a:solidFill>
                <a:latin typeface="Lato" panose="020F0502020204030203"/>
                <a:cs typeface="Times New Roman" panose="02020603050405020304" pitchFamily="18" charset="0"/>
              </a:rPr>
              <a:t>Siradze</a:t>
            </a:r>
            <a:endParaRPr lang="en-US" sz="2000" spc="-10" dirty="0">
              <a:solidFill>
                <a:srgbClr val="4C4C4E"/>
              </a:solidFill>
              <a:latin typeface="Lato" panose="020F0502020204030203"/>
              <a:cs typeface="Times New Roman" panose="02020603050405020304" pitchFamily="18" charset="0"/>
            </a:endParaRPr>
          </a:p>
          <a:p>
            <a:pPr marL="355600" indent="-342900">
              <a:lnSpc>
                <a:spcPct val="100000"/>
              </a:lnSpc>
              <a:spcBef>
                <a:spcPts val="1130"/>
              </a:spcBef>
              <a:buFont typeface="Arial" panose="020B0604020202020204" pitchFamily="34" charset="0"/>
              <a:buChar char="•"/>
            </a:pPr>
            <a:r>
              <a:rPr lang="en-US" sz="2000" spc="-10" dirty="0">
                <a:solidFill>
                  <a:srgbClr val="4C4C4E"/>
                </a:solidFill>
                <a:latin typeface="Lato" panose="020F0502020204030203"/>
                <a:cs typeface="Times New Roman" panose="02020603050405020304" pitchFamily="18" charset="0"/>
              </a:rPr>
              <a:t>Financial report by David </a:t>
            </a:r>
            <a:r>
              <a:rPr lang="en-US" sz="2000" spc="-10" dirty="0" err="1">
                <a:solidFill>
                  <a:srgbClr val="4C4C4E"/>
                </a:solidFill>
                <a:latin typeface="Lato" panose="020F0502020204030203"/>
                <a:cs typeface="Times New Roman" panose="02020603050405020304" pitchFamily="18" charset="0"/>
              </a:rPr>
              <a:t>Tkemaladze</a:t>
            </a:r>
            <a:endParaRPr lang="en-US" sz="2000" spc="-10" dirty="0">
              <a:solidFill>
                <a:srgbClr val="4C4C4E"/>
              </a:solidFill>
              <a:latin typeface="Lato" panose="020F0502020204030203"/>
              <a:cs typeface="Times New Roman" panose="02020603050405020304" pitchFamily="18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3"/>
          <a:srcRect r="33984"/>
          <a:stretch/>
        </p:blipFill>
        <p:spPr>
          <a:xfrm>
            <a:off x="11213381" y="2247362"/>
            <a:ext cx="88032" cy="2133600"/>
          </a:xfrm>
          <a:prstGeom prst="rect">
            <a:avLst/>
          </a:prstGeom>
        </p:spPr>
      </p:pic>
      <p:sp>
        <p:nvSpPr>
          <p:cNvPr id="6" name="object 16">
            <a:extLst>
              <a:ext uri="{FF2B5EF4-FFF2-40B4-BE49-F238E27FC236}">
                <a16:creationId xmlns:a16="http://schemas.microsoft.com/office/drawing/2014/main" id="{6D25A2CC-5DE6-4E77-8414-F40830378A17}"/>
              </a:ext>
            </a:extLst>
          </p:cNvPr>
          <p:cNvSpPr txBox="1"/>
          <p:nvPr/>
        </p:nvSpPr>
        <p:spPr>
          <a:xfrm rot="16200000">
            <a:off x="-2107000" y="2004541"/>
            <a:ext cx="6277652" cy="2268570"/>
          </a:xfrm>
          <a:prstGeom prst="rect">
            <a:avLst/>
          </a:prstGeom>
        </p:spPr>
        <p:txBody>
          <a:bodyPr vert="horz" wrap="square" lIns="0" tIns="143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30"/>
              </a:spcBef>
            </a:pPr>
            <a:r>
              <a:rPr lang="en-US" sz="13800" spc="-10" dirty="0">
                <a:solidFill>
                  <a:srgbClr val="4C4C4E"/>
                </a:solidFill>
                <a:latin typeface="Lato" panose="020F0502020204030203"/>
                <a:cs typeface="Times New Roman" panose="02020603050405020304" pitchFamily="18" charset="0"/>
              </a:rPr>
              <a:t>agenda</a:t>
            </a:r>
            <a:endParaRPr sz="13800" dirty="0">
              <a:latin typeface="Lato" panose="020F0502020204030203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111064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01781" y="297871"/>
            <a:ext cx="11263746" cy="615141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5310796-939F-4E65-BEC1-8F35B9DA1912}"/>
              </a:ext>
            </a:extLst>
          </p:cNvPr>
          <p:cNvSpPr/>
          <p:nvPr/>
        </p:nvSpPr>
        <p:spPr>
          <a:xfrm>
            <a:off x="0" y="2991025"/>
            <a:ext cx="12192000" cy="765110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Заголовок 3">
            <a:extLst>
              <a:ext uri="{FF2B5EF4-FFF2-40B4-BE49-F238E27FC236}">
                <a16:creationId xmlns:a16="http://schemas.microsoft.com/office/drawing/2014/main" id="{C19576F4-F2FD-4C18-AD4A-48F5BEBE229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31980" y="3197217"/>
            <a:ext cx="6033652" cy="463566"/>
          </a:xfrm>
        </p:spPr>
        <p:txBody>
          <a:bodyPr>
            <a:normAutofit fontScale="90000"/>
          </a:bodyPr>
          <a:lstStyle/>
          <a:p>
            <a:r>
              <a:rPr lang="en-US" sz="3600" b="1" spc="5" dirty="0">
                <a:solidFill>
                  <a:srgbClr val="FFC000"/>
                </a:solidFill>
                <a:latin typeface="Lato"/>
                <a:ea typeface="+mn-ea"/>
                <a:cs typeface="Lato"/>
              </a:rPr>
              <a:t>Commercial Report</a:t>
            </a:r>
            <a:endParaRPr lang="ru-RU" sz="3600" b="1" spc="5" dirty="0">
              <a:solidFill>
                <a:srgbClr val="FFC000"/>
              </a:solidFill>
              <a:latin typeface="Lato"/>
              <a:ea typeface="+mn-ea"/>
              <a:cs typeface="Lato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81AC877B-150C-4D84-9887-9CCED001748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13058" y="2469579"/>
            <a:ext cx="3920596" cy="1808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08700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46620B14-FF18-4048-B2C3-157D42E80D9E}"/>
              </a:ext>
            </a:extLst>
          </p:cNvPr>
          <p:cNvSpPr/>
          <p:nvPr/>
        </p:nvSpPr>
        <p:spPr>
          <a:xfrm>
            <a:off x="0" y="0"/>
            <a:ext cx="12192000" cy="765110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>
              <a:latin typeface="Lato" panose="020F0502020204030203"/>
            </a:endParaRPr>
          </a:p>
        </p:txBody>
      </p:sp>
      <p:sp>
        <p:nvSpPr>
          <p:cNvPr id="22" name="Заголовок 3">
            <a:extLst>
              <a:ext uri="{FF2B5EF4-FFF2-40B4-BE49-F238E27FC236}">
                <a16:creationId xmlns:a16="http://schemas.microsoft.com/office/drawing/2014/main" id="{A036D393-B66F-48BC-93FD-F47DD6DBE16C}"/>
              </a:ext>
            </a:extLst>
          </p:cNvPr>
          <p:cNvSpPr txBox="1">
            <a:spLocks/>
          </p:cNvSpPr>
          <p:nvPr/>
        </p:nvSpPr>
        <p:spPr>
          <a:xfrm>
            <a:off x="294762" y="150772"/>
            <a:ext cx="5014355" cy="46356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b="1" spc="5" dirty="0">
                <a:solidFill>
                  <a:srgbClr val="FFC000"/>
                </a:solidFill>
                <a:latin typeface="Lato"/>
                <a:cs typeface="Lato"/>
              </a:rPr>
              <a:t>Revenue Q1</a:t>
            </a:r>
            <a:endParaRPr lang="ru-RU" sz="3200" b="1" spc="5" dirty="0">
              <a:solidFill>
                <a:srgbClr val="FFC000"/>
              </a:solidFill>
              <a:latin typeface="Lato"/>
              <a:cs typeface="Lato"/>
            </a:endParaRP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7ABAE7BE-0D71-4814-A153-62CE55F72D88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81238" y="125231"/>
            <a:ext cx="1115999" cy="514648"/>
          </a:xfrm>
          <a:prstGeom prst="rect">
            <a:avLst/>
          </a:prstGeom>
        </p:spPr>
      </p:pic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91E2BF70-7B9C-40DB-B467-7532F10B6DE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00499609"/>
              </p:ext>
            </p:extLst>
          </p:nvPr>
        </p:nvGraphicFramePr>
        <p:xfrm>
          <a:off x="1302060" y="1339365"/>
          <a:ext cx="9587879" cy="5128532"/>
        </p:xfrm>
        <a:graphic>
          <a:graphicData uri="http://schemas.openxmlformats.org/drawingml/2006/table">
            <a:tbl>
              <a:tblPr/>
              <a:tblGrid>
                <a:gridCol w="3006374">
                  <a:extLst>
                    <a:ext uri="{9D8B030D-6E8A-4147-A177-3AD203B41FA5}">
                      <a16:colId xmlns:a16="http://schemas.microsoft.com/office/drawing/2014/main" val="938665709"/>
                    </a:ext>
                  </a:extLst>
                </a:gridCol>
                <a:gridCol w="1316301">
                  <a:extLst>
                    <a:ext uri="{9D8B030D-6E8A-4147-A177-3AD203B41FA5}">
                      <a16:colId xmlns:a16="http://schemas.microsoft.com/office/drawing/2014/main" val="3674452587"/>
                    </a:ext>
                  </a:extLst>
                </a:gridCol>
                <a:gridCol w="1316301">
                  <a:extLst>
                    <a:ext uri="{9D8B030D-6E8A-4147-A177-3AD203B41FA5}">
                      <a16:colId xmlns:a16="http://schemas.microsoft.com/office/drawing/2014/main" val="1692543196"/>
                    </a:ext>
                  </a:extLst>
                </a:gridCol>
                <a:gridCol w="1316301">
                  <a:extLst>
                    <a:ext uri="{9D8B030D-6E8A-4147-A177-3AD203B41FA5}">
                      <a16:colId xmlns:a16="http://schemas.microsoft.com/office/drawing/2014/main" val="3876558321"/>
                    </a:ext>
                  </a:extLst>
                </a:gridCol>
                <a:gridCol w="1316301">
                  <a:extLst>
                    <a:ext uri="{9D8B030D-6E8A-4147-A177-3AD203B41FA5}">
                      <a16:colId xmlns:a16="http://schemas.microsoft.com/office/drawing/2014/main" val="1442068783"/>
                    </a:ext>
                  </a:extLst>
                </a:gridCol>
                <a:gridCol w="1316301">
                  <a:extLst>
                    <a:ext uri="{9D8B030D-6E8A-4147-A177-3AD203B41FA5}">
                      <a16:colId xmlns:a16="http://schemas.microsoft.com/office/drawing/2014/main" val="1414074923"/>
                    </a:ext>
                  </a:extLst>
                </a:gridCol>
              </a:tblGrid>
              <a:tr h="20727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 dirty="0">
                          <a:solidFill>
                            <a:srgbClr val="FFC000"/>
                          </a:solidFill>
                          <a:effectLst/>
                          <a:latin typeface="Lato" panose="020F0502020204030203"/>
                        </a:rPr>
                        <a:t>REVENUE</a:t>
                      </a:r>
                    </a:p>
                  </a:txBody>
                  <a:tcPr marL="6399" marR="6399" marT="63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1" i="0" u="none" strike="noStrike">
                          <a:solidFill>
                            <a:srgbClr val="FFC000"/>
                          </a:solidFill>
                          <a:effectLst/>
                          <a:latin typeface="Lato" panose="020F0502020204030203"/>
                        </a:rPr>
                        <a:t>Q1 ACTUAL</a:t>
                      </a:r>
                    </a:p>
                  </a:txBody>
                  <a:tcPr marL="6399" marR="6399" marT="63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1" i="0" u="none" strike="noStrike">
                          <a:solidFill>
                            <a:srgbClr val="FFC000"/>
                          </a:solidFill>
                          <a:effectLst/>
                          <a:latin typeface="Lato" panose="020F0502020204030203"/>
                        </a:rPr>
                        <a:t>Q1 BUDGET</a:t>
                      </a:r>
                    </a:p>
                  </a:txBody>
                  <a:tcPr marL="6399" marR="6399" marT="63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1" i="0" u="none" strike="noStrike">
                          <a:solidFill>
                            <a:srgbClr val="FFC000"/>
                          </a:solidFill>
                          <a:effectLst/>
                          <a:latin typeface="Lato" panose="020F0502020204030203"/>
                        </a:rPr>
                        <a:t>Diff budget</a:t>
                      </a:r>
                    </a:p>
                  </a:txBody>
                  <a:tcPr marL="6399" marR="6399" marT="63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1" i="0" u="none" strike="noStrike">
                          <a:solidFill>
                            <a:srgbClr val="FFC000"/>
                          </a:solidFill>
                          <a:effectLst/>
                          <a:latin typeface="Lato" panose="020F0502020204030203"/>
                        </a:rPr>
                        <a:t>2025 Q1 ACTUAL</a:t>
                      </a:r>
                    </a:p>
                  </a:txBody>
                  <a:tcPr marL="6399" marR="6399" marT="63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1" i="0" u="none" strike="noStrike">
                          <a:solidFill>
                            <a:srgbClr val="FFC000"/>
                          </a:solidFill>
                          <a:effectLst/>
                          <a:latin typeface="Lato" panose="020F0502020204030203"/>
                        </a:rPr>
                        <a:t>Diff 2025 Q1</a:t>
                      </a:r>
                    </a:p>
                  </a:txBody>
                  <a:tcPr marL="6399" marR="6399" marT="63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40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55943291"/>
                  </a:ext>
                </a:extLst>
              </a:tr>
              <a:tr h="182260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Lato" panose="020F0502020204030203"/>
                        </a:rPr>
                        <a:t>TIME / City Mall </a:t>
                      </a:r>
                      <a:r>
                        <a:rPr lang="en-US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Lato" panose="020F0502020204030203"/>
                        </a:rPr>
                        <a:t>Qavtaradze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Lato" panose="020F0502020204030203"/>
                      </a:endParaRPr>
                    </a:p>
                  </a:txBody>
                  <a:tcPr marL="6399" marR="6399" marT="639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Lato" panose="020F0502020204030203"/>
                        </a:rPr>
                        <a:t>                911,032 </a:t>
                      </a:r>
                    </a:p>
                  </a:txBody>
                  <a:tcPr marL="6399" marR="6399" marT="639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Lato" panose="020F0502020204030203"/>
                        </a:rPr>
                        <a:t>                709,288 </a:t>
                      </a:r>
                    </a:p>
                  </a:txBody>
                  <a:tcPr marL="6399" marR="6399" marT="639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Lato" panose="020F0502020204030203"/>
                        </a:rPr>
                        <a:t>28.4%</a:t>
                      </a:r>
                    </a:p>
                  </a:txBody>
                  <a:tcPr marL="6399" marR="6399" marT="639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Lato" panose="020F0502020204030203"/>
                        </a:rPr>
                        <a:t>                656,394 </a:t>
                      </a:r>
                    </a:p>
                  </a:txBody>
                  <a:tcPr marL="6399" marR="6399" marT="639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Lato" panose="020F0502020204030203"/>
                        </a:rPr>
                        <a:t>38.8%</a:t>
                      </a:r>
                    </a:p>
                  </a:txBody>
                  <a:tcPr marL="6399" marR="6399" marT="639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30925216"/>
                  </a:ext>
                </a:extLst>
              </a:tr>
              <a:tr h="182260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Lato" panose="020F0502020204030203"/>
                        </a:rPr>
                        <a:t>TIME / Galleria Mall</a:t>
                      </a:r>
                    </a:p>
                  </a:txBody>
                  <a:tcPr marL="6399" marR="6399" marT="639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Lato" panose="020F0502020204030203"/>
                        </a:rPr>
                        <a:t>                801,930 </a:t>
                      </a:r>
                    </a:p>
                  </a:txBody>
                  <a:tcPr marL="6399" marR="6399" marT="639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Lato" panose="020F0502020204030203"/>
                        </a:rPr>
                        <a:t>                708,892 </a:t>
                      </a:r>
                    </a:p>
                  </a:txBody>
                  <a:tcPr marL="6399" marR="6399" marT="639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Lato" panose="020F0502020204030203"/>
                        </a:rPr>
                        <a:t>13.1%</a:t>
                      </a:r>
                    </a:p>
                  </a:txBody>
                  <a:tcPr marL="6399" marR="6399" marT="639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Lato" panose="020F0502020204030203"/>
                        </a:rPr>
                        <a:t>                675,135 </a:t>
                      </a:r>
                    </a:p>
                  </a:txBody>
                  <a:tcPr marL="6399" marR="6399" marT="639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Lato" panose="020F0502020204030203"/>
                        </a:rPr>
                        <a:t>18.8%</a:t>
                      </a:r>
                    </a:p>
                  </a:txBody>
                  <a:tcPr marL="6399" marR="6399" marT="639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99865192"/>
                  </a:ext>
                </a:extLst>
              </a:tr>
              <a:tr h="182260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Lato" panose="020F0502020204030203"/>
                        </a:rPr>
                        <a:t>TIME/ East Point Mall</a:t>
                      </a:r>
                    </a:p>
                  </a:txBody>
                  <a:tcPr marL="6399" marR="6399" marT="639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Lato" panose="020F0502020204030203"/>
                        </a:rPr>
                        <a:t>                738,762 </a:t>
                      </a:r>
                    </a:p>
                  </a:txBody>
                  <a:tcPr marL="6399" marR="6399" marT="639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Lato" panose="020F0502020204030203"/>
                        </a:rPr>
                        <a:t>                614,492 </a:t>
                      </a:r>
                    </a:p>
                  </a:txBody>
                  <a:tcPr marL="6399" marR="6399" marT="639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Lato" panose="020F0502020204030203"/>
                        </a:rPr>
                        <a:t>20.2%</a:t>
                      </a:r>
                    </a:p>
                  </a:txBody>
                  <a:tcPr marL="6399" marR="6399" marT="639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Lato" panose="020F0502020204030203"/>
                        </a:rPr>
                        <a:t>                585,997 </a:t>
                      </a:r>
                    </a:p>
                  </a:txBody>
                  <a:tcPr marL="6399" marR="6399" marT="639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Lato" panose="020F0502020204030203"/>
                        </a:rPr>
                        <a:t>26.1%</a:t>
                      </a:r>
                    </a:p>
                  </a:txBody>
                  <a:tcPr marL="6399" marR="6399" marT="639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10017213"/>
                  </a:ext>
                </a:extLst>
              </a:tr>
              <a:tr h="182260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Lato" panose="020F0502020204030203"/>
                        </a:rPr>
                        <a:t>Pandora CS / Galleria Mall</a:t>
                      </a:r>
                    </a:p>
                  </a:txBody>
                  <a:tcPr marL="6399" marR="6399" marT="639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Lato" panose="020F0502020204030203"/>
                        </a:rPr>
                        <a:t>                519,932 </a:t>
                      </a:r>
                    </a:p>
                  </a:txBody>
                  <a:tcPr marL="6399" marR="6399" marT="639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Lato" panose="020F0502020204030203"/>
                        </a:rPr>
                        <a:t>                525,537 </a:t>
                      </a:r>
                    </a:p>
                  </a:txBody>
                  <a:tcPr marL="6399" marR="6399" marT="639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Lato" panose="020F0502020204030203"/>
                        </a:rPr>
                        <a:t>-1.1%</a:t>
                      </a:r>
                    </a:p>
                  </a:txBody>
                  <a:tcPr marL="6399" marR="6399" marT="639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Lato" panose="020F0502020204030203"/>
                        </a:rPr>
                        <a:t>                437,948 </a:t>
                      </a:r>
                    </a:p>
                  </a:txBody>
                  <a:tcPr marL="6399" marR="6399" marT="639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Lato" panose="020F0502020204030203"/>
                        </a:rPr>
                        <a:t>18.7%</a:t>
                      </a:r>
                    </a:p>
                  </a:txBody>
                  <a:tcPr marL="6399" marR="6399" marT="639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91450887"/>
                  </a:ext>
                </a:extLst>
              </a:tr>
              <a:tr h="182260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Lato" panose="020F0502020204030203"/>
                        </a:rPr>
                        <a:t>E-Commerce</a:t>
                      </a:r>
                    </a:p>
                  </a:txBody>
                  <a:tcPr marL="6399" marR="6399" marT="639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Lato" panose="020F0502020204030203"/>
                        </a:rPr>
                        <a:t>                439,891 </a:t>
                      </a:r>
                    </a:p>
                  </a:txBody>
                  <a:tcPr marL="6399" marR="6399" marT="639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Lato" panose="020F0502020204030203"/>
                        </a:rPr>
                        <a:t>                418,306 </a:t>
                      </a:r>
                    </a:p>
                  </a:txBody>
                  <a:tcPr marL="6399" marR="6399" marT="639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Lato" panose="020F0502020204030203"/>
                        </a:rPr>
                        <a:t>5.2%</a:t>
                      </a:r>
                    </a:p>
                  </a:txBody>
                  <a:tcPr marL="6399" marR="6399" marT="639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Lato" panose="020F0502020204030203"/>
                        </a:rPr>
                        <a:t>                367,994 </a:t>
                      </a:r>
                    </a:p>
                  </a:txBody>
                  <a:tcPr marL="6399" marR="6399" marT="639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Lato" panose="020F0502020204030203"/>
                        </a:rPr>
                        <a:t>19.5%</a:t>
                      </a:r>
                    </a:p>
                  </a:txBody>
                  <a:tcPr marL="6399" marR="6399" marT="639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79396658"/>
                  </a:ext>
                </a:extLst>
              </a:tr>
              <a:tr h="182260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Lato" panose="020F0502020204030203"/>
                        </a:rPr>
                        <a:t>Pandora CS / City Mall  Qavtaradze</a:t>
                      </a:r>
                    </a:p>
                  </a:txBody>
                  <a:tcPr marL="6399" marR="6399" marT="639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Lato" panose="020F0502020204030203"/>
                        </a:rPr>
                        <a:t>                403,842 </a:t>
                      </a:r>
                    </a:p>
                  </a:txBody>
                  <a:tcPr marL="6399" marR="6399" marT="639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Lato" panose="020F0502020204030203"/>
                        </a:rPr>
                        <a:t>                355,070 </a:t>
                      </a:r>
                    </a:p>
                  </a:txBody>
                  <a:tcPr marL="6399" marR="6399" marT="639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Lato" panose="020F0502020204030203"/>
                        </a:rPr>
                        <a:t>13.7%</a:t>
                      </a:r>
                    </a:p>
                  </a:txBody>
                  <a:tcPr marL="6399" marR="6399" marT="639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Lato" panose="020F0502020204030203"/>
                        </a:rPr>
                        <a:t>                344,729 </a:t>
                      </a:r>
                    </a:p>
                  </a:txBody>
                  <a:tcPr marL="6399" marR="6399" marT="639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Lato" panose="020F0502020204030203"/>
                        </a:rPr>
                        <a:t>17.1%</a:t>
                      </a:r>
                    </a:p>
                  </a:txBody>
                  <a:tcPr marL="6399" marR="6399" marT="639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6186058"/>
                  </a:ext>
                </a:extLst>
              </a:tr>
              <a:tr h="182260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Lato" panose="020F0502020204030203"/>
                        </a:rPr>
                        <a:t>TIME/ Tbilisi Mall</a:t>
                      </a:r>
                    </a:p>
                  </a:txBody>
                  <a:tcPr marL="6399" marR="6399" marT="639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Lato" panose="020F0502020204030203"/>
                        </a:rPr>
                        <a:t>                391,871 </a:t>
                      </a:r>
                    </a:p>
                  </a:txBody>
                  <a:tcPr marL="6399" marR="6399" marT="639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Lato" panose="020F0502020204030203"/>
                        </a:rPr>
                        <a:t>                390,950 </a:t>
                      </a:r>
                    </a:p>
                  </a:txBody>
                  <a:tcPr marL="6399" marR="6399" marT="639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Lato" panose="020F0502020204030203"/>
                        </a:rPr>
                        <a:t>0.2%</a:t>
                      </a:r>
                    </a:p>
                  </a:txBody>
                  <a:tcPr marL="6399" marR="6399" marT="639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Lato" panose="020F0502020204030203"/>
                        </a:rPr>
                        <a:t>                373,298 </a:t>
                      </a:r>
                    </a:p>
                  </a:txBody>
                  <a:tcPr marL="6399" marR="6399" marT="639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Lato" panose="020F0502020204030203"/>
                        </a:rPr>
                        <a:t>5.0%</a:t>
                      </a:r>
                    </a:p>
                  </a:txBody>
                  <a:tcPr marL="6399" marR="6399" marT="639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63577166"/>
                  </a:ext>
                </a:extLst>
              </a:tr>
              <a:tr h="182260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Lato" panose="020F0502020204030203"/>
                        </a:rPr>
                        <a:t>TIME / Grand Mall Batumi</a:t>
                      </a:r>
                    </a:p>
                  </a:txBody>
                  <a:tcPr marL="6399" marR="6399" marT="639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Lato" panose="020F0502020204030203"/>
                        </a:rPr>
                        <a:t>                385,850 </a:t>
                      </a:r>
                    </a:p>
                  </a:txBody>
                  <a:tcPr marL="6399" marR="6399" marT="639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Lato" panose="020F0502020204030203"/>
                        </a:rPr>
                        <a:t>                307,369 </a:t>
                      </a:r>
                    </a:p>
                  </a:txBody>
                  <a:tcPr marL="6399" marR="6399" marT="639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Lato" panose="020F0502020204030203"/>
                        </a:rPr>
                        <a:t>25.5%</a:t>
                      </a:r>
                    </a:p>
                  </a:txBody>
                  <a:tcPr marL="6399" marR="6399" marT="639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Lato" panose="020F0502020204030203"/>
                        </a:rPr>
                        <a:t>                304,325 </a:t>
                      </a:r>
                    </a:p>
                  </a:txBody>
                  <a:tcPr marL="6399" marR="6399" marT="639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Lato" panose="020F0502020204030203"/>
                        </a:rPr>
                        <a:t>26.8%</a:t>
                      </a:r>
                    </a:p>
                  </a:txBody>
                  <a:tcPr marL="6399" marR="6399" marT="639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73982872"/>
                  </a:ext>
                </a:extLst>
              </a:tr>
              <a:tr h="182260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Lato" panose="020F0502020204030203"/>
                        </a:rPr>
                        <a:t>TIME / Batumi</a:t>
                      </a:r>
                    </a:p>
                  </a:txBody>
                  <a:tcPr marL="6399" marR="6399" marT="639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Lato" panose="020F0502020204030203"/>
                        </a:rPr>
                        <a:t>                317,923 </a:t>
                      </a:r>
                    </a:p>
                  </a:txBody>
                  <a:tcPr marL="6399" marR="6399" marT="639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Lato" panose="020F0502020204030203"/>
                        </a:rPr>
                        <a:t>                336,660 </a:t>
                      </a:r>
                    </a:p>
                  </a:txBody>
                  <a:tcPr marL="6399" marR="6399" marT="639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Lato" panose="020F0502020204030203"/>
                        </a:rPr>
                        <a:t>-5.6%</a:t>
                      </a:r>
                    </a:p>
                  </a:txBody>
                  <a:tcPr marL="6399" marR="6399" marT="639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Lato" panose="020F0502020204030203"/>
                        </a:rPr>
                        <a:t>                330,062 </a:t>
                      </a:r>
                    </a:p>
                  </a:txBody>
                  <a:tcPr marL="6399" marR="6399" marT="639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Lato" panose="020F0502020204030203"/>
                        </a:rPr>
                        <a:t>-3.7%</a:t>
                      </a:r>
                    </a:p>
                  </a:txBody>
                  <a:tcPr marL="6399" marR="6399" marT="639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37391800"/>
                  </a:ext>
                </a:extLst>
              </a:tr>
              <a:tr h="182260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Lato" panose="020F0502020204030203"/>
                        </a:rPr>
                        <a:t>TIME/ Rustaveli</a:t>
                      </a:r>
                    </a:p>
                  </a:txBody>
                  <a:tcPr marL="6399" marR="6399" marT="639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Lato" panose="020F0502020204030203"/>
                        </a:rPr>
                        <a:t>                285,185 </a:t>
                      </a:r>
                    </a:p>
                  </a:txBody>
                  <a:tcPr marL="6399" marR="6399" marT="639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Lato" panose="020F0502020204030203"/>
                        </a:rPr>
                        <a:t>                269,653 </a:t>
                      </a:r>
                    </a:p>
                  </a:txBody>
                  <a:tcPr marL="6399" marR="6399" marT="639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Lato" panose="020F0502020204030203"/>
                        </a:rPr>
                        <a:t>5.8%</a:t>
                      </a:r>
                    </a:p>
                  </a:txBody>
                  <a:tcPr marL="6399" marR="6399" marT="639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Lato" panose="020F0502020204030203"/>
                        </a:rPr>
                        <a:t>                261,799 </a:t>
                      </a:r>
                    </a:p>
                  </a:txBody>
                  <a:tcPr marL="6399" marR="6399" marT="639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Lato" panose="020F0502020204030203"/>
                        </a:rPr>
                        <a:t>8.9%</a:t>
                      </a:r>
                    </a:p>
                  </a:txBody>
                  <a:tcPr marL="6399" marR="6399" marT="639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0262713"/>
                  </a:ext>
                </a:extLst>
              </a:tr>
              <a:tr h="182260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Lato" panose="020F0502020204030203"/>
                        </a:rPr>
                        <a:t>TIME / Kutaisi</a:t>
                      </a:r>
                    </a:p>
                  </a:txBody>
                  <a:tcPr marL="6399" marR="6399" marT="639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Lato" panose="020F0502020204030203"/>
                        </a:rPr>
                        <a:t>                277,195 </a:t>
                      </a:r>
                    </a:p>
                  </a:txBody>
                  <a:tcPr marL="6399" marR="6399" marT="639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Lato" panose="020F0502020204030203"/>
                        </a:rPr>
                        <a:t>                221,142 </a:t>
                      </a:r>
                    </a:p>
                  </a:txBody>
                  <a:tcPr marL="6399" marR="6399" marT="639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Lato" panose="020F0502020204030203"/>
                        </a:rPr>
                        <a:t>25.3%</a:t>
                      </a:r>
                    </a:p>
                  </a:txBody>
                  <a:tcPr marL="6399" marR="6399" marT="639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Lato" panose="020F0502020204030203"/>
                        </a:rPr>
                        <a:t>                210,611 </a:t>
                      </a:r>
                    </a:p>
                  </a:txBody>
                  <a:tcPr marL="6399" marR="6399" marT="639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Lato" panose="020F0502020204030203"/>
                        </a:rPr>
                        <a:t>31.6%</a:t>
                      </a:r>
                    </a:p>
                  </a:txBody>
                  <a:tcPr marL="6399" marR="6399" marT="639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60000089"/>
                  </a:ext>
                </a:extLst>
              </a:tr>
              <a:tr h="182260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Lato" panose="020F0502020204030203"/>
                        </a:rPr>
                        <a:t>G Factory Kiosk / City Mall Qavtaradze</a:t>
                      </a:r>
                    </a:p>
                  </a:txBody>
                  <a:tcPr marL="6399" marR="6399" marT="639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Lato" panose="020F0502020204030203"/>
                        </a:rPr>
                        <a:t>                270,352 </a:t>
                      </a:r>
                    </a:p>
                  </a:txBody>
                  <a:tcPr marL="6399" marR="6399" marT="639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Lato" panose="020F0502020204030203"/>
                        </a:rPr>
                        <a:t>                219,140 </a:t>
                      </a:r>
                    </a:p>
                  </a:txBody>
                  <a:tcPr marL="6399" marR="6399" marT="639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Lato" panose="020F0502020204030203"/>
                        </a:rPr>
                        <a:t>23.4%</a:t>
                      </a:r>
                    </a:p>
                  </a:txBody>
                  <a:tcPr marL="6399" marR="6399" marT="639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Lato" panose="020F0502020204030203"/>
                        </a:rPr>
                        <a:t>                198,091 </a:t>
                      </a:r>
                    </a:p>
                  </a:txBody>
                  <a:tcPr marL="6399" marR="6399" marT="639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Lato" panose="020F0502020204030203"/>
                        </a:rPr>
                        <a:t>36.5%</a:t>
                      </a:r>
                    </a:p>
                  </a:txBody>
                  <a:tcPr marL="6399" marR="6399" marT="639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14913881"/>
                  </a:ext>
                </a:extLst>
              </a:tr>
              <a:tr h="182260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Lato" panose="020F0502020204030203"/>
                        </a:rPr>
                        <a:t>TIME / Pekini</a:t>
                      </a:r>
                    </a:p>
                  </a:txBody>
                  <a:tcPr marL="6399" marR="6399" marT="639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Lato" panose="020F0502020204030203"/>
                        </a:rPr>
                        <a:t>                260,381 </a:t>
                      </a:r>
                    </a:p>
                  </a:txBody>
                  <a:tcPr marL="6399" marR="6399" marT="639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Lato" panose="020F0502020204030203"/>
                        </a:rPr>
                        <a:t>                240,480 </a:t>
                      </a:r>
                    </a:p>
                  </a:txBody>
                  <a:tcPr marL="6399" marR="6399" marT="639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Lato" panose="020F0502020204030203"/>
                        </a:rPr>
                        <a:t>8.3%</a:t>
                      </a:r>
                    </a:p>
                  </a:txBody>
                  <a:tcPr marL="6399" marR="6399" marT="639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Lato" panose="020F0502020204030203"/>
                        </a:rPr>
                        <a:t>                235,764 </a:t>
                      </a:r>
                    </a:p>
                  </a:txBody>
                  <a:tcPr marL="6399" marR="6399" marT="639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Lato" panose="020F0502020204030203"/>
                        </a:rPr>
                        <a:t>10.4%</a:t>
                      </a:r>
                    </a:p>
                  </a:txBody>
                  <a:tcPr marL="6399" marR="6399" marT="639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88153743"/>
                  </a:ext>
                </a:extLst>
              </a:tr>
              <a:tr h="182260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Lato" panose="020F0502020204030203"/>
                        </a:rPr>
                        <a:t>Tous / City Mall Qavtaradze</a:t>
                      </a:r>
                    </a:p>
                  </a:txBody>
                  <a:tcPr marL="6399" marR="6399" marT="639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Lato" panose="020F0502020204030203"/>
                        </a:rPr>
                        <a:t>                259,381 </a:t>
                      </a:r>
                    </a:p>
                  </a:txBody>
                  <a:tcPr marL="6399" marR="6399" marT="639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Lato" panose="020F0502020204030203"/>
                        </a:rPr>
                        <a:t>                255,764 </a:t>
                      </a:r>
                    </a:p>
                  </a:txBody>
                  <a:tcPr marL="6399" marR="6399" marT="639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Lato" panose="020F0502020204030203"/>
                        </a:rPr>
                        <a:t>1.4%</a:t>
                      </a:r>
                    </a:p>
                  </a:txBody>
                  <a:tcPr marL="6399" marR="6399" marT="639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Lato" panose="020F0502020204030203"/>
                        </a:rPr>
                        <a:t>                233,300 </a:t>
                      </a:r>
                    </a:p>
                  </a:txBody>
                  <a:tcPr marL="6399" marR="6399" marT="639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Lato" panose="020F0502020204030203"/>
                        </a:rPr>
                        <a:t>11.2%</a:t>
                      </a:r>
                    </a:p>
                  </a:txBody>
                  <a:tcPr marL="6399" marR="6399" marT="639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43673358"/>
                  </a:ext>
                </a:extLst>
              </a:tr>
              <a:tr h="182260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Lato" panose="020F0502020204030203"/>
                        </a:rPr>
                        <a:t>TIME / Pandora Kiosk Grand Mall</a:t>
                      </a:r>
                    </a:p>
                  </a:txBody>
                  <a:tcPr marL="6399" marR="6399" marT="639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Lato" panose="020F0502020204030203"/>
                        </a:rPr>
                        <a:t>                217,955 </a:t>
                      </a:r>
                    </a:p>
                  </a:txBody>
                  <a:tcPr marL="6399" marR="6399" marT="639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Lato" panose="020F0502020204030203"/>
                        </a:rPr>
                        <a:t>                222,274 </a:t>
                      </a:r>
                    </a:p>
                  </a:txBody>
                  <a:tcPr marL="6399" marR="6399" marT="639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Lato" panose="020F0502020204030203"/>
                        </a:rPr>
                        <a:t>-1.9%</a:t>
                      </a:r>
                    </a:p>
                  </a:txBody>
                  <a:tcPr marL="6399" marR="6399" marT="639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Lato" panose="020F0502020204030203"/>
                        </a:rPr>
                        <a:t>                205,387 </a:t>
                      </a:r>
                    </a:p>
                  </a:txBody>
                  <a:tcPr marL="6399" marR="6399" marT="639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Lato" panose="020F0502020204030203"/>
                        </a:rPr>
                        <a:t>6.1%</a:t>
                      </a:r>
                    </a:p>
                  </a:txBody>
                  <a:tcPr marL="6399" marR="6399" marT="639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1591724"/>
                  </a:ext>
                </a:extLst>
              </a:tr>
              <a:tr h="182260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Lato" panose="020F0502020204030203"/>
                        </a:rPr>
                        <a:t>Pandora Kiosk / Tbilisi Mall</a:t>
                      </a:r>
                    </a:p>
                  </a:txBody>
                  <a:tcPr marL="6399" marR="6399" marT="639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Lato" panose="020F0502020204030203"/>
                        </a:rPr>
                        <a:t>                173,697 </a:t>
                      </a:r>
                    </a:p>
                  </a:txBody>
                  <a:tcPr marL="6399" marR="6399" marT="639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Lato" panose="020F0502020204030203"/>
                        </a:rPr>
                        <a:t>                171,811 </a:t>
                      </a:r>
                    </a:p>
                  </a:txBody>
                  <a:tcPr marL="6399" marR="6399" marT="639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Lato" panose="020F0502020204030203"/>
                        </a:rPr>
                        <a:t>1.1%</a:t>
                      </a:r>
                    </a:p>
                  </a:txBody>
                  <a:tcPr marL="6399" marR="6399" marT="639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Lato" panose="020F0502020204030203"/>
                        </a:rPr>
                        <a:t>                166,373 </a:t>
                      </a:r>
                    </a:p>
                  </a:txBody>
                  <a:tcPr marL="6399" marR="6399" marT="639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Lato" panose="020F0502020204030203"/>
                        </a:rPr>
                        <a:t>4.4%</a:t>
                      </a:r>
                    </a:p>
                  </a:txBody>
                  <a:tcPr marL="6399" marR="6399" marT="639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1569452"/>
                  </a:ext>
                </a:extLst>
              </a:tr>
              <a:tr h="182260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Lato" panose="020F0502020204030203"/>
                        </a:rPr>
                        <a:t>TIME Kiosk / City Mall Gldani</a:t>
                      </a:r>
                    </a:p>
                  </a:txBody>
                  <a:tcPr marL="6399" marR="6399" marT="639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Lato" panose="020F0502020204030203"/>
                        </a:rPr>
                        <a:t>                159,742 </a:t>
                      </a:r>
                    </a:p>
                  </a:txBody>
                  <a:tcPr marL="6399" marR="6399" marT="639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Lato" panose="020F0502020204030203"/>
                        </a:rPr>
                        <a:t>                130,211 </a:t>
                      </a:r>
                    </a:p>
                  </a:txBody>
                  <a:tcPr marL="6399" marR="6399" marT="639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Lato" panose="020F0502020204030203"/>
                        </a:rPr>
                        <a:t>22.7%</a:t>
                      </a:r>
                    </a:p>
                  </a:txBody>
                  <a:tcPr marL="6399" marR="6399" marT="639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Lato" panose="020F0502020204030203"/>
                        </a:rPr>
                        <a:t>                130,211 </a:t>
                      </a:r>
                    </a:p>
                  </a:txBody>
                  <a:tcPr marL="6399" marR="6399" marT="639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Lato" panose="020F0502020204030203"/>
                        </a:rPr>
                        <a:t>22.7%</a:t>
                      </a:r>
                    </a:p>
                  </a:txBody>
                  <a:tcPr marL="6399" marR="6399" marT="639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28225863"/>
                  </a:ext>
                </a:extLst>
              </a:tr>
              <a:tr h="182260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Lato" panose="020F0502020204030203"/>
                        </a:rPr>
                        <a:t>Time / Pandora Kiosk East Point</a:t>
                      </a:r>
                    </a:p>
                  </a:txBody>
                  <a:tcPr marL="6399" marR="6399" marT="639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Lato" panose="020F0502020204030203"/>
                        </a:rPr>
                        <a:t>                152,194 </a:t>
                      </a:r>
                    </a:p>
                  </a:txBody>
                  <a:tcPr marL="6399" marR="6399" marT="639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Lato" panose="020F0502020204030203"/>
                        </a:rPr>
                        <a:t>                  79,574 </a:t>
                      </a:r>
                    </a:p>
                  </a:txBody>
                  <a:tcPr marL="6399" marR="6399" marT="639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Lato" panose="020F0502020204030203"/>
                        </a:rPr>
                        <a:t>91.3%</a:t>
                      </a:r>
                    </a:p>
                  </a:txBody>
                  <a:tcPr marL="6399" marR="6399" marT="639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Lato" panose="020F0502020204030203"/>
                        </a:rPr>
                        <a:t>                           -   </a:t>
                      </a:r>
                    </a:p>
                  </a:txBody>
                  <a:tcPr marL="6399" marR="6399" marT="639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Lato" panose="020F0502020204030203"/>
                        </a:rPr>
                        <a:t> </a:t>
                      </a:r>
                    </a:p>
                  </a:txBody>
                  <a:tcPr marL="6399" marR="6399" marT="639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16876575"/>
                  </a:ext>
                </a:extLst>
              </a:tr>
              <a:tr h="182260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Lato" panose="020F0502020204030203"/>
                        </a:rPr>
                        <a:t>G Factory Kiosk / East point</a:t>
                      </a:r>
                    </a:p>
                  </a:txBody>
                  <a:tcPr marL="6399" marR="6399" marT="639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Lato" panose="020F0502020204030203"/>
                        </a:rPr>
                        <a:t>                116,096 </a:t>
                      </a:r>
                    </a:p>
                  </a:txBody>
                  <a:tcPr marL="6399" marR="6399" marT="639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Lato" panose="020F0502020204030203"/>
                        </a:rPr>
                        <a:t>                  62,532 </a:t>
                      </a:r>
                    </a:p>
                  </a:txBody>
                  <a:tcPr marL="6399" marR="6399" marT="639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Lato" panose="020F0502020204030203"/>
                        </a:rPr>
                        <a:t>85.7%</a:t>
                      </a:r>
                    </a:p>
                  </a:txBody>
                  <a:tcPr marL="6399" marR="6399" marT="639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Lato" panose="020F0502020204030203"/>
                        </a:rPr>
                        <a:t>                  72,729 </a:t>
                      </a:r>
                    </a:p>
                  </a:txBody>
                  <a:tcPr marL="6399" marR="6399" marT="639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Lato" panose="020F0502020204030203"/>
                        </a:rPr>
                        <a:t>59.6%</a:t>
                      </a:r>
                    </a:p>
                  </a:txBody>
                  <a:tcPr marL="6399" marR="6399" marT="639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96435762"/>
                  </a:ext>
                </a:extLst>
              </a:tr>
              <a:tr h="182260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Lato" panose="020F0502020204030203"/>
                        </a:rPr>
                        <a:t>Time / TOUS East Point</a:t>
                      </a:r>
                    </a:p>
                  </a:txBody>
                  <a:tcPr marL="6399" marR="6399" marT="639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Lato" panose="020F0502020204030203"/>
                        </a:rPr>
                        <a:t>                114,138 </a:t>
                      </a:r>
                    </a:p>
                  </a:txBody>
                  <a:tcPr marL="6399" marR="6399" marT="639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Lato" panose="020F0502020204030203"/>
                        </a:rPr>
                        <a:t>                137,510 </a:t>
                      </a:r>
                    </a:p>
                  </a:txBody>
                  <a:tcPr marL="6399" marR="6399" marT="639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Lato" panose="020F0502020204030203"/>
                        </a:rPr>
                        <a:t>-17.0%</a:t>
                      </a:r>
                    </a:p>
                  </a:txBody>
                  <a:tcPr marL="6399" marR="6399" marT="639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Lato" panose="020F0502020204030203"/>
                        </a:rPr>
                        <a:t>                           -   </a:t>
                      </a:r>
                    </a:p>
                  </a:txBody>
                  <a:tcPr marL="6399" marR="6399" marT="639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Lato" panose="020F0502020204030203"/>
                        </a:rPr>
                        <a:t> </a:t>
                      </a:r>
                    </a:p>
                  </a:txBody>
                  <a:tcPr marL="6399" marR="6399" marT="639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40685594"/>
                  </a:ext>
                </a:extLst>
              </a:tr>
              <a:tr h="182260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Lato" panose="020F0502020204030203"/>
                        </a:rPr>
                        <a:t>TIME / Zugdidi Mall</a:t>
                      </a:r>
                    </a:p>
                  </a:txBody>
                  <a:tcPr marL="6399" marR="6399" marT="639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Lato" panose="020F0502020204030203"/>
                        </a:rPr>
                        <a:t>                112,382 </a:t>
                      </a:r>
                    </a:p>
                  </a:txBody>
                  <a:tcPr marL="6399" marR="6399" marT="639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Lato" panose="020F0502020204030203"/>
                        </a:rPr>
                        <a:t>                101,015 </a:t>
                      </a:r>
                    </a:p>
                  </a:txBody>
                  <a:tcPr marL="6399" marR="6399" marT="639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Lato" panose="020F0502020204030203"/>
                        </a:rPr>
                        <a:t>11.3%</a:t>
                      </a:r>
                    </a:p>
                  </a:txBody>
                  <a:tcPr marL="6399" marR="6399" marT="639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Lato" panose="020F0502020204030203"/>
                        </a:rPr>
                        <a:t>                  97,057 </a:t>
                      </a:r>
                    </a:p>
                  </a:txBody>
                  <a:tcPr marL="6399" marR="6399" marT="639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Lato" panose="020F0502020204030203"/>
                        </a:rPr>
                        <a:t>15.8%</a:t>
                      </a:r>
                    </a:p>
                  </a:txBody>
                  <a:tcPr marL="6399" marR="6399" marT="639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74772135"/>
                  </a:ext>
                </a:extLst>
              </a:tr>
              <a:tr h="182260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Lato" panose="020F0502020204030203"/>
                        </a:rPr>
                        <a:t>Pandora Kiosk / City Mall Gldani</a:t>
                      </a:r>
                    </a:p>
                  </a:txBody>
                  <a:tcPr marL="6399" marR="6399" marT="639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Lato" panose="020F0502020204030203"/>
                        </a:rPr>
                        <a:t>                  89,428 </a:t>
                      </a:r>
                    </a:p>
                  </a:txBody>
                  <a:tcPr marL="6399" marR="6399" marT="639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Lato" panose="020F0502020204030203"/>
                        </a:rPr>
                        <a:t>                  83,532 </a:t>
                      </a:r>
                    </a:p>
                  </a:txBody>
                  <a:tcPr marL="6399" marR="6399" marT="639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Lato" panose="020F0502020204030203"/>
                        </a:rPr>
                        <a:t>7.1%</a:t>
                      </a:r>
                    </a:p>
                  </a:txBody>
                  <a:tcPr marL="6399" marR="6399" marT="639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Lato" panose="020F0502020204030203"/>
                        </a:rPr>
                        <a:t>                  78,067 </a:t>
                      </a:r>
                    </a:p>
                  </a:txBody>
                  <a:tcPr marL="6399" marR="6399" marT="639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Lato" panose="020F0502020204030203"/>
                        </a:rPr>
                        <a:t>14.6%</a:t>
                      </a:r>
                    </a:p>
                  </a:txBody>
                  <a:tcPr marL="6399" marR="6399" marT="639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87499652"/>
                  </a:ext>
                </a:extLst>
              </a:tr>
              <a:tr h="182260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Lato" panose="020F0502020204030203"/>
                        </a:rPr>
                        <a:t>TIME / Zag Bijoux</a:t>
                      </a:r>
                    </a:p>
                  </a:txBody>
                  <a:tcPr marL="6399" marR="6399" marT="639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Lato" panose="020F0502020204030203"/>
                        </a:rPr>
                        <a:t>                  88,361 </a:t>
                      </a:r>
                    </a:p>
                  </a:txBody>
                  <a:tcPr marL="6399" marR="6399" marT="639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Lato" panose="020F0502020204030203"/>
                        </a:rPr>
                        <a:t>                  90,769 </a:t>
                      </a:r>
                    </a:p>
                  </a:txBody>
                  <a:tcPr marL="6399" marR="6399" marT="639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Lato" panose="020F0502020204030203"/>
                        </a:rPr>
                        <a:t>-2.7%</a:t>
                      </a:r>
                    </a:p>
                  </a:txBody>
                  <a:tcPr marL="6399" marR="6399" marT="639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Lato" panose="020F0502020204030203"/>
                        </a:rPr>
                        <a:t>                  71,614 </a:t>
                      </a:r>
                    </a:p>
                  </a:txBody>
                  <a:tcPr marL="6399" marR="6399" marT="639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Lato" panose="020F0502020204030203"/>
                        </a:rPr>
                        <a:t>23.4%</a:t>
                      </a:r>
                    </a:p>
                  </a:txBody>
                  <a:tcPr marL="6399" marR="6399" marT="639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0848612"/>
                  </a:ext>
                </a:extLst>
              </a:tr>
              <a:tr h="182260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Lato" panose="020F0502020204030203"/>
                        </a:rPr>
                        <a:t>Other</a:t>
                      </a:r>
                    </a:p>
                  </a:txBody>
                  <a:tcPr marL="6399" marR="6399" marT="639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Lato" panose="020F0502020204030203"/>
                        </a:rPr>
                        <a:t>                  18,191 </a:t>
                      </a:r>
                    </a:p>
                  </a:txBody>
                  <a:tcPr marL="6399" marR="6399" marT="639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Lato" panose="020F0502020204030203"/>
                        </a:rPr>
                        <a:t>                           -   </a:t>
                      </a:r>
                    </a:p>
                  </a:txBody>
                  <a:tcPr marL="6399" marR="6399" marT="639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9C0006"/>
                          </a:solidFill>
                          <a:effectLst/>
                          <a:latin typeface="Lato" panose="020F0502020204030203"/>
                        </a:rPr>
                        <a:t>                           -   </a:t>
                      </a:r>
                    </a:p>
                  </a:txBody>
                  <a:tcPr marL="6399" marR="6399" marT="639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Lato" panose="020F0502020204030203"/>
                        </a:rPr>
                        <a:t>                           -   </a:t>
                      </a:r>
                    </a:p>
                  </a:txBody>
                  <a:tcPr marL="6399" marR="6399" marT="639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Lato" panose="020F0502020204030203"/>
                        </a:rPr>
                        <a:t> </a:t>
                      </a:r>
                    </a:p>
                  </a:txBody>
                  <a:tcPr marL="6399" marR="6399" marT="639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9092848"/>
                  </a:ext>
                </a:extLst>
              </a:tr>
              <a:tr h="182260">
                <a:tc>
                  <a:txBody>
                    <a:bodyPr/>
                    <a:lstStyle/>
                    <a:p>
                      <a:pPr algn="l" rtl="0" fontAlgn="t"/>
                      <a:r>
                        <a:rPr lang="en-US" sz="1200" b="1" i="0" u="none" strike="noStrike">
                          <a:solidFill>
                            <a:srgbClr val="FFC000"/>
                          </a:solidFill>
                          <a:effectLst/>
                          <a:latin typeface="Lato" panose="020F0502020204030203"/>
                        </a:rPr>
                        <a:t>Total w E-commerce</a:t>
                      </a:r>
                    </a:p>
                  </a:txBody>
                  <a:tcPr marL="6399" marR="6399" marT="6399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1" i="0" u="none" strike="noStrike">
                          <a:solidFill>
                            <a:srgbClr val="FFC000"/>
                          </a:solidFill>
                          <a:effectLst/>
                          <a:latin typeface="Lato" panose="020F0502020204030203"/>
                        </a:rPr>
                        <a:t>            7,505,710 </a:t>
                      </a:r>
                    </a:p>
                  </a:txBody>
                  <a:tcPr marL="6399" marR="6399" marT="639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1" i="0" u="none" strike="noStrike">
                          <a:solidFill>
                            <a:srgbClr val="FFC000"/>
                          </a:solidFill>
                          <a:effectLst/>
                          <a:latin typeface="Lato" panose="020F0502020204030203"/>
                        </a:rPr>
                        <a:t>            6,651,971 </a:t>
                      </a:r>
                    </a:p>
                  </a:txBody>
                  <a:tcPr marL="6399" marR="6399" marT="639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>
                          <a:solidFill>
                            <a:srgbClr val="FFC000"/>
                          </a:solidFill>
                          <a:effectLst/>
                          <a:latin typeface="Lato" panose="020F0502020204030203"/>
                        </a:rPr>
                        <a:t>12.8%</a:t>
                      </a:r>
                    </a:p>
                  </a:txBody>
                  <a:tcPr marL="6399" marR="6399" marT="639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1" i="0" u="none" strike="noStrike">
                          <a:solidFill>
                            <a:srgbClr val="FFC000"/>
                          </a:solidFill>
                          <a:effectLst/>
                          <a:latin typeface="Lato" panose="020F0502020204030203"/>
                        </a:rPr>
                        <a:t>            6,036,886 </a:t>
                      </a:r>
                    </a:p>
                  </a:txBody>
                  <a:tcPr marL="6399" marR="6399" marT="639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>
                          <a:solidFill>
                            <a:srgbClr val="FFC000"/>
                          </a:solidFill>
                          <a:effectLst/>
                          <a:latin typeface="Lato" panose="020F0502020204030203"/>
                        </a:rPr>
                        <a:t>24.3%</a:t>
                      </a:r>
                    </a:p>
                  </a:txBody>
                  <a:tcPr marL="6399" marR="6399" marT="639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40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49777663"/>
                  </a:ext>
                </a:extLst>
              </a:tr>
              <a:tr h="182260">
                <a:tc>
                  <a:txBody>
                    <a:bodyPr/>
                    <a:lstStyle/>
                    <a:p>
                      <a:pPr algn="l" rtl="0" fontAlgn="t"/>
                      <a:r>
                        <a:rPr lang="en-US" sz="1200" b="1" i="0" u="none" strike="noStrike">
                          <a:solidFill>
                            <a:srgbClr val="FFC000"/>
                          </a:solidFill>
                          <a:effectLst/>
                          <a:latin typeface="Lato" panose="020F0502020204030203"/>
                        </a:rPr>
                        <a:t>Total w/o E-commerce</a:t>
                      </a:r>
                    </a:p>
                  </a:txBody>
                  <a:tcPr marL="6399" marR="6399" marT="6399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1" i="0" u="none" strike="noStrike">
                          <a:solidFill>
                            <a:srgbClr val="FFC000"/>
                          </a:solidFill>
                          <a:effectLst/>
                          <a:latin typeface="Lato" panose="020F0502020204030203"/>
                        </a:rPr>
                        <a:t>            7,065,819 </a:t>
                      </a:r>
                    </a:p>
                  </a:txBody>
                  <a:tcPr marL="6399" marR="6399" marT="639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1" i="0" u="none" strike="noStrike">
                          <a:solidFill>
                            <a:srgbClr val="FFC000"/>
                          </a:solidFill>
                          <a:effectLst/>
                          <a:latin typeface="Lato" panose="020F0502020204030203"/>
                        </a:rPr>
                        <a:t>            6,233,665 </a:t>
                      </a:r>
                    </a:p>
                  </a:txBody>
                  <a:tcPr marL="6399" marR="6399" marT="639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>
                          <a:solidFill>
                            <a:srgbClr val="FFC000"/>
                          </a:solidFill>
                          <a:effectLst/>
                          <a:latin typeface="Lato" panose="020F0502020204030203"/>
                        </a:rPr>
                        <a:t>13.3%</a:t>
                      </a:r>
                    </a:p>
                  </a:txBody>
                  <a:tcPr marL="6399" marR="6399" marT="639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1" i="0" u="none" strike="noStrike">
                          <a:solidFill>
                            <a:srgbClr val="FFC000"/>
                          </a:solidFill>
                          <a:effectLst/>
                          <a:latin typeface="Lato" panose="020F0502020204030203"/>
                        </a:rPr>
                        <a:t>            5,668,892 </a:t>
                      </a:r>
                    </a:p>
                  </a:txBody>
                  <a:tcPr marL="6399" marR="6399" marT="639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rgbClr val="FFC000"/>
                          </a:solidFill>
                          <a:effectLst/>
                          <a:latin typeface="Lato" panose="020F0502020204030203"/>
                        </a:rPr>
                        <a:t>24.6%</a:t>
                      </a:r>
                    </a:p>
                  </a:txBody>
                  <a:tcPr marL="6399" marR="6399" marT="639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40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9163667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218395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01781" y="297871"/>
            <a:ext cx="11263746" cy="615141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5310796-939F-4E65-BEC1-8F35B9DA1912}"/>
              </a:ext>
            </a:extLst>
          </p:cNvPr>
          <p:cNvSpPr/>
          <p:nvPr/>
        </p:nvSpPr>
        <p:spPr>
          <a:xfrm>
            <a:off x="0" y="2873830"/>
            <a:ext cx="12192000" cy="910298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Заголовок 3">
            <a:extLst>
              <a:ext uri="{FF2B5EF4-FFF2-40B4-BE49-F238E27FC236}">
                <a16:creationId xmlns:a16="http://schemas.microsoft.com/office/drawing/2014/main" id="{C19576F4-F2FD-4C18-AD4A-48F5BEBE229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44325" y="3097196"/>
            <a:ext cx="6210532" cy="463566"/>
          </a:xfrm>
        </p:spPr>
        <p:txBody>
          <a:bodyPr>
            <a:normAutofit fontScale="90000"/>
          </a:bodyPr>
          <a:lstStyle/>
          <a:p>
            <a:r>
              <a:rPr lang="en-US" sz="3600" b="1" spc="5" dirty="0">
                <a:solidFill>
                  <a:srgbClr val="FFC000"/>
                </a:solidFill>
                <a:latin typeface="Lato" panose="020F0502020204030203"/>
                <a:cs typeface="Lato"/>
              </a:rPr>
              <a:t>Financial Performance</a:t>
            </a:r>
            <a:endParaRPr lang="ru-RU" sz="3600" b="1" spc="5" dirty="0">
              <a:solidFill>
                <a:srgbClr val="FFC000"/>
              </a:solidFill>
              <a:latin typeface="Lato" panose="020F0502020204030203"/>
              <a:cs typeface="Lato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81AC877B-150C-4D84-9887-9CCED001748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13058" y="2469579"/>
            <a:ext cx="3920596" cy="1808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015682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3442</TotalTime>
  <Words>424</Words>
  <Application>Microsoft Office PowerPoint</Application>
  <PresentationFormat>Widescreen</PresentationFormat>
  <Paragraphs>171</Paragraphs>
  <Slides>5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1" baseType="lpstr">
      <vt:lpstr>Arial</vt:lpstr>
      <vt:lpstr>Calibri</vt:lpstr>
      <vt:lpstr>Calibri Light</vt:lpstr>
      <vt:lpstr>Lato</vt:lpstr>
      <vt:lpstr>Times New Roman</vt:lpstr>
      <vt:lpstr>Office Theme</vt:lpstr>
      <vt:lpstr>PowerPoint Presentation</vt:lpstr>
      <vt:lpstr>PowerPoint Presentation</vt:lpstr>
      <vt:lpstr>Commercial Report</vt:lpstr>
      <vt:lpstr>PowerPoint Presentation</vt:lpstr>
      <vt:lpstr>Financial Performance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Susanna Gevorgyan</dc:creator>
  <cp:lastModifiedBy>Ketevan Gabitashvili</cp:lastModifiedBy>
  <cp:revision>42</cp:revision>
  <dcterms:created xsi:type="dcterms:W3CDTF">2026-04-27T07:41:50Z</dcterms:created>
  <dcterms:modified xsi:type="dcterms:W3CDTF">2026-05-20T08:58:40Z</dcterms:modified>
</cp:coreProperties>
</file>